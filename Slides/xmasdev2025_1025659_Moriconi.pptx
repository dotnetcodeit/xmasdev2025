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3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82" autoAdjust="0"/>
    <p:restoredTop sz="94684"/>
  </p:normalViewPr>
  <p:slideViewPr>
    <p:cSldViewPr snapToGrid="0" snapToObjects="1">
      <p:cViewPr varScale="1">
        <p:scale>
          <a:sx n="60" d="100"/>
          <a:sy n="60" d="100"/>
        </p:scale>
        <p:origin x="120" y="15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7441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opening banner slide for 'AI Secret Santa: l’Elfo Digitale che organizza lo scambio di regali'. The session is presented by: Maurizio Moriconi. This slide sets the visual theme for the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Main title slide displaying 'AI Secret Santa: l’Elfo Digitale che organizza lo scambio di regali'. Presented by: Maurizio Moriconi. Use this slide to introduce the session topic.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Sponsor acknowledgment slide. Take a moment to thank the event sponsors and explain their support for the conference.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 section for 'AI Secret Santa: l’Elfo Digitale che organizza lo scambio di regali'. This slide is for live demonstrations. Ensure all demo materials are prepared and tested.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Q&amp;A slide for 'AI Secret Santa: l’Elfo Digitale che organizza lo scambio di regali'. This is time for audience questions and discussion. Prepare to address common questions about the topic and invite participation.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Voting slide for 'AI Secret Santa: l’Elfo Digitale che organizza lo scambio di regali'. Ask audience to scan the QR code or visit https://vote.dotnetdev.it/vote/xqt335vh/1025659 to vote. Emphasize the importance of feedback.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 descr="Immagine che contiene testo">
            <a:extLst>
              <a:ext uri="{FF2B5EF4-FFF2-40B4-BE49-F238E27FC236}">
                <a16:creationId xmlns:a16="http://schemas.microsoft.com/office/drawing/2014/main" id="{8EA15267-CF58-D6E3-2729-57336C8AF2D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96000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8A539AF-D29A-CB4B-A262-5335E4BF1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8700" y="6356350"/>
            <a:ext cx="7124700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BAB0333-ECE9-134A-8863-FF8C86264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 dirty="0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58E7DEE1-CD19-31BB-6F8D-B516C527C5F6}"/>
              </a:ext>
            </a:extLst>
          </p:cNvPr>
          <p:cNvSpPr txBox="1"/>
          <p:nvPr userDrawn="1"/>
        </p:nvSpPr>
        <p:spPr>
          <a:xfrm>
            <a:off x="0" y="5302845"/>
            <a:ext cx="1219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5400" b="1" dirty="0">
                <a:solidFill>
                  <a:srgbClr val="C00000"/>
                </a:solidFill>
                <a:latin typeface="Bebas Neue" panose="020B0606020202050201" pitchFamily="34" charset="0"/>
              </a:rPr>
              <a:t>XMAS DEV 2025 </a:t>
            </a:r>
            <a:endParaRPr lang="en-GB" sz="5400" b="1" dirty="0">
              <a:solidFill>
                <a:srgbClr val="C00000"/>
              </a:solidFill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7942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ons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" name="Picture 10" descr="Unikey">
            <a:extLst>
              <a:ext uri="{FF2B5EF4-FFF2-40B4-BE49-F238E27FC236}">
                <a16:creationId xmlns:a16="http://schemas.microsoft.com/office/drawing/2014/main" id="{7B151699-46F2-42E6-A8AB-5B227444180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0044" y="4606929"/>
            <a:ext cx="1344738" cy="1344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Microsoft">
            <a:extLst>
              <a:ext uri="{FF2B5EF4-FFF2-40B4-BE49-F238E27FC236}">
                <a16:creationId xmlns:a16="http://schemas.microsoft.com/office/drawing/2014/main" id="{0D1C8260-E5A3-4D40-9C43-E053A41C24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3555" y="767352"/>
            <a:ext cx="4401929" cy="2200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8A539AF-D29A-CB4B-A262-5335E4BF1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8700" y="6356350"/>
            <a:ext cx="7124700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BAB0333-ECE9-134A-8863-FF8C86264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DB7B9443-D6D8-4569-BFF9-86DCE6B54072}"/>
              </a:ext>
            </a:extLst>
          </p:cNvPr>
          <p:cNvSpPr txBox="1"/>
          <p:nvPr userDrawn="1"/>
        </p:nvSpPr>
        <p:spPr>
          <a:xfrm>
            <a:off x="-1480" y="406515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400" b="1" i="0" dirty="0">
                <a:solidFill>
                  <a:srgbClr val="808080"/>
                </a:solidFill>
                <a:effectLst/>
                <a:latin typeface="Open Sans" panose="020B0606030504020204" pitchFamily="34" charset="0"/>
              </a:rPr>
              <a:t>Platinum</a:t>
            </a:r>
            <a:r>
              <a:rPr lang="it-IT" sz="2400" b="1" i="0" dirty="0">
                <a:solidFill>
                  <a:srgbClr val="E02B20"/>
                </a:solidFill>
                <a:effectLst/>
                <a:latin typeface="Open Sans" panose="020B0606030504020204" pitchFamily="34" charset="0"/>
              </a:rPr>
              <a:t> Sponsor</a:t>
            </a:r>
            <a:endParaRPr lang="it-IT" sz="2400" dirty="0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5391975D-3A9F-4269-A8E4-FE8243E91A61}"/>
              </a:ext>
            </a:extLst>
          </p:cNvPr>
          <p:cNvSpPr txBox="1"/>
          <p:nvPr userDrawn="1"/>
        </p:nvSpPr>
        <p:spPr>
          <a:xfrm>
            <a:off x="1018297" y="3082346"/>
            <a:ext cx="59277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400" b="1" i="0" dirty="0">
                <a:solidFill>
                  <a:srgbClr val="808080"/>
                </a:solidFill>
                <a:effectLst/>
                <a:latin typeface="Open Sans" panose="020B0606030504020204" pitchFamily="34" charset="0"/>
              </a:rPr>
              <a:t>Gold</a:t>
            </a:r>
            <a:r>
              <a:rPr lang="it-IT" sz="2400" b="1" i="0" dirty="0">
                <a:solidFill>
                  <a:srgbClr val="E02B20"/>
                </a:solidFill>
                <a:effectLst/>
                <a:latin typeface="Open Sans" panose="020B0606030504020204" pitchFamily="34" charset="0"/>
              </a:rPr>
              <a:t> Sponsor</a:t>
            </a:r>
            <a:endParaRPr lang="it-IT" sz="2400" dirty="0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EE1D9CB3-A60F-487A-B15C-67FC667BE159}"/>
              </a:ext>
            </a:extLst>
          </p:cNvPr>
          <p:cNvSpPr txBox="1"/>
          <p:nvPr userDrawn="1"/>
        </p:nvSpPr>
        <p:spPr>
          <a:xfrm>
            <a:off x="7924099" y="3082635"/>
            <a:ext cx="39304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400" b="1" i="0" dirty="0">
                <a:solidFill>
                  <a:srgbClr val="808080"/>
                </a:solidFill>
                <a:effectLst/>
                <a:latin typeface="Open Sans" panose="020B0606030504020204" pitchFamily="34" charset="0"/>
              </a:rPr>
              <a:t>Technical</a:t>
            </a:r>
            <a:r>
              <a:rPr lang="it-IT" sz="2400" b="1" i="0" dirty="0">
                <a:solidFill>
                  <a:srgbClr val="E02B20"/>
                </a:solidFill>
                <a:effectLst/>
                <a:latin typeface="Open Sans" panose="020B0606030504020204" pitchFamily="34" charset="0"/>
              </a:rPr>
              <a:t> Sponsor</a:t>
            </a:r>
            <a:endParaRPr lang="it-IT" sz="2400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E802044E-478E-2E1D-ACF2-C3D294EE5BB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49207" y="3563330"/>
            <a:ext cx="2689471" cy="1344736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D75DC4AC-03AC-F48C-96C4-AEBCD7E97D1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4196875" y="3544011"/>
            <a:ext cx="2618961" cy="1344736"/>
          </a:xfrm>
          <a:prstGeom prst="rect">
            <a:avLst/>
          </a:prstGeom>
        </p:spPr>
      </p:pic>
      <p:pic>
        <p:nvPicPr>
          <p:cNvPr id="1032" name="Picture 8" descr="JetBrains">
            <a:extLst>
              <a:ext uri="{FF2B5EF4-FFF2-40B4-BE49-F238E27FC236}">
                <a16:creationId xmlns:a16="http://schemas.microsoft.com/office/drawing/2014/main" id="{BEB1668B-28C7-4089-8EA4-58DFAF163C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2024" y="4747678"/>
            <a:ext cx="1344737" cy="1344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0">
            <a:extLst>
              <a:ext uri="{FF2B5EF4-FFF2-40B4-BE49-F238E27FC236}">
                <a16:creationId xmlns:a16="http://schemas.microsoft.com/office/drawing/2014/main" id="{304CAED0-DD49-884F-24F0-EC06C6FF8AE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/>
          <a:srcRect/>
          <a:stretch/>
        </p:blipFill>
        <p:spPr bwMode="auto">
          <a:xfrm>
            <a:off x="9889300" y="3285549"/>
            <a:ext cx="2066226" cy="2066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10">
            <a:extLst>
              <a:ext uri="{FF2B5EF4-FFF2-40B4-BE49-F238E27FC236}">
                <a16:creationId xmlns:a16="http://schemas.microsoft.com/office/drawing/2014/main" id="{2519B83E-A302-0E05-B1A9-795866AC5B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/>
          <a:srcRect/>
          <a:stretch/>
        </p:blipFill>
        <p:spPr bwMode="auto">
          <a:xfrm>
            <a:off x="8001675" y="3427985"/>
            <a:ext cx="1781355" cy="1781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2361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&#10;&#10;Descrizione generata automaticamente">
            <a:extLst>
              <a:ext uri="{FF2B5EF4-FFF2-40B4-BE49-F238E27FC236}">
                <a16:creationId xmlns:a16="http://schemas.microsoft.com/office/drawing/2014/main" id="{F6CFC133-75CD-4631-9D8C-DC664D1643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96000"/>
          </a:xfrm>
          <a:prstGeom prst="rect">
            <a:avLst/>
          </a:prstGeom>
        </p:spPr>
      </p:pic>
      <p:sp>
        <p:nvSpPr>
          <p:cNvPr id="20" name="Titolo 1">
            <a:extLst>
              <a:ext uri="{FF2B5EF4-FFF2-40B4-BE49-F238E27FC236}">
                <a16:creationId xmlns:a16="http://schemas.microsoft.com/office/drawing/2014/main" id="{51912CBA-87F2-456F-ADC1-903AC1E07A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5292725"/>
            <a:ext cx="12192000" cy="1418626"/>
          </a:xfrm>
        </p:spPr>
        <p:txBody>
          <a:bodyPr/>
          <a:lstStyle>
            <a:lvl1pPr>
              <a:defRPr/>
            </a:lvl1pPr>
          </a:lstStyle>
          <a:p>
            <a:r>
              <a:rPr lang="it-IT" dirty="0"/>
              <a:t>Session Title</a:t>
            </a:r>
          </a:p>
        </p:txBody>
      </p:sp>
      <p:sp>
        <p:nvSpPr>
          <p:cNvPr id="21" name="Segnaposto contenuto 2">
            <a:extLst>
              <a:ext uri="{FF2B5EF4-FFF2-40B4-BE49-F238E27FC236}">
                <a16:creationId xmlns:a16="http://schemas.microsoft.com/office/drawing/2014/main" id="{A2418920-6165-400E-9618-02294986FB5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0" y="5980545"/>
            <a:ext cx="12192000" cy="803275"/>
          </a:xfrm>
        </p:spPr>
        <p:txBody>
          <a:bodyPr/>
          <a:lstStyle>
            <a:lvl1pPr marL="0" indent="0">
              <a:buNone/>
              <a:defRPr/>
            </a:lvl1pPr>
            <a:lvl2pPr>
              <a:defRPr sz="2000">
                <a:solidFill>
                  <a:srgbClr val="C00000"/>
                </a:solidFill>
                <a:latin typeface="Raleway" panose="020B0503030101060003" pitchFamily="34" charset="77"/>
              </a:defRPr>
            </a:lvl2pPr>
            <a:lvl3pPr>
              <a:defRPr sz="1800">
                <a:solidFill>
                  <a:srgbClr val="C00000"/>
                </a:solidFill>
                <a:latin typeface="Raleway" panose="020B0503030101060003" pitchFamily="34" charset="77"/>
              </a:defRPr>
            </a:lvl3pPr>
            <a:lvl4pPr>
              <a:defRPr sz="1600">
                <a:solidFill>
                  <a:srgbClr val="C00000"/>
                </a:solidFill>
                <a:latin typeface="Raleway" panose="020B0503030101060003" pitchFamily="34" charset="77"/>
              </a:defRPr>
            </a:lvl4pPr>
            <a:lvl5pPr>
              <a:defRPr sz="1400">
                <a:solidFill>
                  <a:srgbClr val="C00000"/>
                </a:solidFill>
                <a:latin typeface="Raleway" panose="020B0503030101060003" pitchFamily="34" charset="77"/>
              </a:defRPr>
            </a:lvl5pPr>
          </a:lstStyle>
          <a:p>
            <a:r>
              <a:rPr lang="it-IT" dirty="0"/>
              <a:t>Session sub </a:t>
            </a:r>
            <a:r>
              <a:rPr lang="it-IT" dirty="0" err="1"/>
              <a:t>title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244759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ssion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&#10;&#10;Descrizione generata automaticamente">
            <a:extLst>
              <a:ext uri="{FF2B5EF4-FFF2-40B4-BE49-F238E27FC236}">
                <a16:creationId xmlns:a16="http://schemas.microsoft.com/office/drawing/2014/main" id="{F6CFC133-75CD-4631-9D8C-DC664D1643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96000"/>
          </a:xfrm>
          <a:prstGeom prst="rect">
            <a:avLst/>
          </a:prstGeom>
        </p:spPr>
      </p:pic>
      <p:sp>
        <p:nvSpPr>
          <p:cNvPr id="20" name="Titolo 1">
            <a:extLst>
              <a:ext uri="{FF2B5EF4-FFF2-40B4-BE49-F238E27FC236}">
                <a16:creationId xmlns:a16="http://schemas.microsoft.com/office/drawing/2014/main" id="{51912CBA-87F2-456F-ADC1-903AC1E07A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4999470"/>
            <a:ext cx="12192000" cy="803275"/>
          </a:xfrm>
        </p:spPr>
        <p:txBody>
          <a:bodyPr/>
          <a:lstStyle>
            <a:lvl1pPr>
              <a:defRPr sz="2800"/>
            </a:lvl1pPr>
          </a:lstStyle>
          <a:p>
            <a:r>
              <a:rPr lang="it-IT" dirty="0"/>
              <a:t>Session Title</a:t>
            </a:r>
          </a:p>
        </p:txBody>
      </p:sp>
      <p:sp>
        <p:nvSpPr>
          <p:cNvPr id="21" name="Segnaposto contenuto 2">
            <a:extLst>
              <a:ext uri="{FF2B5EF4-FFF2-40B4-BE49-F238E27FC236}">
                <a16:creationId xmlns:a16="http://schemas.microsoft.com/office/drawing/2014/main" id="{A2418920-6165-400E-9618-02294986FB5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0" y="5980545"/>
            <a:ext cx="12192000" cy="803275"/>
          </a:xfrm>
        </p:spPr>
        <p:txBody>
          <a:bodyPr/>
          <a:lstStyle>
            <a:lvl1pPr marL="0" indent="0">
              <a:buNone/>
              <a:defRPr sz="1800"/>
            </a:lvl1pPr>
            <a:lvl2pPr>
              <a:defRPr sz="2000">
                <a:solidFill>
                  <a:srgbClr val="C00000"/>
                </a:solidFill>
                <a:latin typeface="Raleway" panose="020B0503030101060003" pitchFamily="34" charset="77"/>
              </a:defRPr>
            </a:lvl2pPr>
            <a:lvl3pPr>
              <a:defRPr sz="1800">
                <a:solidFill>
                  <a:srgbClr val="C00000"/>
                </a:solidFill>
                <a:latin typeface="Raleway" panose="020B0503030101060003" pitchFamily="34" charset="77"/>
              </a:defRPr>
            </a:lvl3pPr>
            <a:lvl4pPr>
              <a:defRPr sz="1600">
                <a:solidFill>
                  <a:srgbClr val="C00000"/>
                </a:solidFill>
                <a:latin typeface="Raleway" panose="020B0503030101060003" pitchFamily="34" charset="77"/>
              </a:defRPr>
            </a:lvl4pPr>
            <a:lvl5pPr>
              <a:defRPr sz="1400">
                <a:solidFill>
                  <a:srgbClr val="C00000"/>
                </a:solidFill>
                <a:latin typeface="Raleway" panose="020B0503030101060003" pitchFamily="34" charset="77"/>
              </a:defRPr>
            </a:lvl5pPr>
          </a:lstStyle>
          <a:p>
            <a:r>
              <a:rPr lang="it-IT" dirty="0"/>
              <a:t>Session sub </a:t>
            </a:r>
            <a:r>
              <a:rPr lang="it-IT" dirty="0" err="1"/>
              <a:t>title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591453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&#10;&#10;Descrizione generata automaticamente">
            <a:extLst>
              <a:ext uri="{FF2B5EF4-FFF2-40B4-BE49-F238E27FC236}">
                <a16:creationId xmlns:a16="http://schemas.microsoft.com/office/drawing/2014/main" id="{F6CFC133-75CD-4631-9D8C-DC664D1643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96000"/>
          </a:xfrm>
          <a:prstGeom prst="rect">
            <a:avLst/>
          </a:prstGeom>
        </p:spPr>
      </p:pic>
      <p:sp>
        <p:nvSpPr>
          <p:cNvPr id="20" name="Titolo 1">
            <a:extLst>
              <a:ext uri="{FF2B5EF4-FFF2-40B4-BE49-F238E27FC236}">
                <a16:creationId xmlns:a16="http://schemas.microsoft.com/office/drawing/2014/main" id="{51912CBA-87F2-456F-ADC1-903AC1E07A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4999470"/>
            <a:ext cx="12192000" cy="1858530"/>
          </a:xfrm>
        </p:spPr>
        <p:txBody>
          <a:bodyPr anchor="ctr">
            <a:normAutofit/>
          </a:bodyPr>
          <a:lstStyle>
            <a:lvl1pPr algn="ctr">
              <a:defRPr sz="7200" b="1"/>
            </a:lvl1pPr>
          </a:lstStyle>
          <a:p>
            <a:r>
              <a:rPr lang="it-IT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547956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&#10;&#10;Descrizione generata automaticamente">
            <a:extLst>
              <a:ext uri="{FF2B5EF4-FFF2-40B4-BE49-F238E27FC236}">
                <a16:creationId xmlns:a16="http://schemas.microsoft.com/office/drawing/2014/main" id="{F6CFC133-75CD-4631-9D8C-DC664D1643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96000"/>
          </a:xfrm>
          <a:prstGeom prst="rect">
            <a:avLst/>
          </a:prstGeom>
        </p:spPr>
      </p:pic>
      <p:sp>
        <p:nvSpPr>
          <p:cNvPr id="20" name="Titolo 1">
            <a:extLst>
              <a:ext uri="{FF2B5EF4-FFF2-40B4-BE49-F238E27FC236}">
                <a16:creationId xmlns:a16="http://schemas.microsoft.com/office/drawing/2014/main" id="{51912CBA-87F2-456F-ADC1-903AC1E07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999470"/>
            <a:ext cx="12192000" cy="1858530"/>
          </a:xfrm>
        </p:spPr>
        <p:txBody>
          <a:bodyPr anchor="ctr">
            <a:normAutofit/>
          </a:bodyPr>
          <a:lstStyle>
            <a:lvl1pPr algn="ctr">
              <a:defRPr sz="7200" b="1"/>
            </a:lvl1pPr>
          </a:lstStyle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62565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C73E6C1-AE1B-7547-ADBB-F33ABA0FB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9A3638A-A027-834F-8315-532816415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000">
                <a:solidFill>
                  <a:srgbClr val="C00000"/>
                </a:solidFill>
                <a:latin typeface="Raleway" panose="020B0503030101060003" pitchFamily="34" charset="77"/>
              </a:defRPr>
            </a:lvl2pPr>
            <a:lvl3pPr>
              <a:defRPr sz="1800">
                <a:solidFill>
                  <a:srgbClr val="C00000"/>
                </a:solidFill>
                <a:latin typeface="Raleway" panose="020B0503030101060003" pitchFamily="34" charset="77"/>
              </a:defRPr>
            </a:lvl3pPr>
            <a:lvl4pPr>
              <a:defRPr sz="1600">
                <a:solidFill>
                  <a:srgbClr val="C00000"/>
                </a:solidFill>
                <a:latin typeface="Raleway" panose="020B0503030101060003" pitchFamily="34" charset="77"/>
              </a:defRPr>
            </a:lvl4pPr>
            <a:lvl5pPr>
              <a:defRPr sz="1400">
                <a:solidFill>
                  <a:srgbClr val="C00000"/>
                </a:solidFill>
                <a:latin typeface="Raleway" panose="020B0503030101060003" pitchFamily="34" charset="77"/>
              </a:defRPr>
            </a:lvl5pPr>
          </a:lstStyle>
          <a:p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B6278D3-6E45-6142-9109-39E186DBB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4436" y="6356350"/>
            <a:ext cx="5908964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88DC965-7067-A44F-AACE-FF9FB0653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42311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C40584C-6DEB-B046-9B45-DC7B3B73A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4436" y="1709739"/>
            <a:ext cx="9103013" cy="229748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501F3E-0DD9-494C-A04E-F72AA6FCFC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44436" y="4365813"/>
            <a:ext cx="9103013" cy="1714704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D86E1D4-6E8F-D748-8D0B-E42FFC90F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4436" y="6356350"/>
            <a:ext cx="5908964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B5B36BB-0C2F-2946-9AD8-A8D51D00E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6507" y="6356350"/>
            <a:ext cx="2097291" cy="365125"/>
          </a:xfrm>
        </p:spPr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04880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327AA29-F078-004B-8E28-7F92255ED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14524EF-65AE-1644-B953-91EE71ABD7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44435" y="1425388"/>
            <a:ext cx="4426525" cy="4751575"/>
          </a:xfrm>
        </p:spPr>
        <p:txBody>
          <a:bodyPr/>
          <a:lstStyle/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53CE46FF-F4CE-7A4E-8A96-4EAD8FFC51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27273" y="1425388"/>
            <a:ext cx="4426526" cy="4751575"/>
          </a:xfrm>
        </p:spPr>
        <p:txBody>
          <a:bodyPr/>
          <a:lstStyle/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4905C2B-E6F7-E94F-AFF2-F3D9C5B0F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4435" y="6356350"/>
            <a:ext cx="6772564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4A4EC58-54F2-8144-A2B5-8F369669D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4928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EEDBBBC-BE17-A24C-9C84-A04D20793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365125"/>
            <a:ext cx="9221787" cy="1239557"/>
          </a:xfrm>
        </p:spPr>
        <p:txBody>
          <a:bodyPr/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83943BD-D6E2-E646-AFB8-FDC1C0A8F7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33601" y="1681162"/>
            <a:ext cx="4423479" cy="1747837"/>
          </a:xfrm>
        </p:spPr>
        <p:txBody>
          <a:bodyPr anchor="b">
            <a:noAutofit/>
          </a:bodyPr>
          <a:lstStyle>
            <a:lvl1pPr marL="0" indent="0">
              <a:buNone/>
              <a:defRPr sz="1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9F4CA54-39D9-BC40-9A28-25340CE4CD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133600" y="3619500"/>
            <a:ext cx="4423479" cy="2570162"/>
          </a:xfrm>
        </p:spPr>
        <p:txBody>
          <a:bodyPr/>
          <a:lstStyle/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2FACC5BB-4745-2F48-9D3C-96D9530240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08535" y="1681163"/>
            <a:ext cx="4445263" cy="1747836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25C12EEE-2654-BD4D-A3B2-A7E8054A63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31909" y="3619499"/>
            <a:ext cx="4423479" cy="2570163"/>
          </a:xfrm>
        </p:spPr>
        <p:txBody>
          <a:bodyPr/>
          <a:lstStyle/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8690D294-EF83-E94E-95E1-CCE5FFD43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33600" y="6356350"/>
            <a:ext cx="6019799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45FB5D25-F2D6-754B-85F7-26CF50BEC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0733" y="6356350"/>
            <a:ext cx="2073066" cy="365125"/>
          </a:xfrm>
        </p:spPr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84714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1A9304B-B9CC-4D41-87AB-BB7E52F9E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3DEF98E-B99B-F147-BE7D-EC97EE9FB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4436" y="6356350"/>
            <a:ext cx="5908964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7D15F86-5A03-9343-AF22-C54032061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636106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E4793560-2FBF-ED4A-AE1B-7F2B5FFD0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2144" y="6356350"/>
            <a:ext cx="5881255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2CE4FC5-A13F-354F-8C77-A5D71FEB6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921179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EF9302E-C0BE-FF44-B795-6726BB522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9018" y="457200"/>
            <a:ext cx="432832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553925E-00C3-CF43-8F43-31F0EF6FB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1755" y="987425"/>
            <a:ext cx="4233632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3372670-9514-014F-B63E-E00F580595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89018" y="2057400"/>
            <a:ext cx="432832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40A6857-D8E5-C642-A325-5D9D4C75C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89018" y="6356350"/>
            <a:ext cx="5964382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0727B93-993F-404C-95D4-57879E51A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452873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77F630-7678-1147-B591-63D5C83DC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9745" y="2057400"/>
            <a:ext cx="474722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72C62C1C-A289-5742-95B8-2B208F83DC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343453" y="987425"/>
            <a:ext cx="4011934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3AECB42-35FC-7849-B2C8-29447AB6E4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19745" y="3657600"/>
            <a:ext cx="4747220" cy="22113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332AD69-85ED-BA49-B365-F92A8AD1E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19745" y="6356350"/>
            <a:ext cx="5937503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9BA05DE-7C04-5D44-BBF9-8DDC28E4B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1285" y="6356350"/>
            <a:ext cx="2042513" cy="365125"/>
          </a:xfrm>
        </p:spPr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322710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77F630-7678-1147-B591-63D5C83DCB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19745" y="457200"/>
            <a:ext cx="474722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dirty="0"/>
              <a:t>SeSSION FEEDBACK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72C62C1C-A289-5742-95B8-2B208F83DC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343453" y="987425"/>
            <a:ext cx="4011934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3AECB42-35FC-7849-B2C8-29447AB6E4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19745" y="2057400"/>
            <a:ext cx="47472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332AD69-85ED-BA49-B365-F92A8AD1E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19745" y="6356350"/>
            <a:ext cx="5937503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9BA05DE-7C04-5D44-BBF9-8DDC28E4B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1285" y="6356350"/>
            <a:ext cx="2042513" cy="365125"/>
          </a:xfrm>
        </p:spPr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496588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V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77F630-7678-1147-B591-63D5C83DC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9745" y="457199"/>
            <a:ext cx="4747220" cy="314001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72C62C1C-A289-5742-95B8-2B208F83DC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343453" y="987425"/>
            <a:ext cx="4011934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3AECB42-35FC-7849-B2C8-29447AB6E4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19745" y="3786996"/>
            <a:ext cx="4747220" cy="208199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332AD69-85ED-BA49-B365-F92A8AD1E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19745" y="6356350"/>
            <a:ext cx="5937503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9BA05DE-7C04-5D44-BBF9-8DDC28E4B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1285" y="6356350"/>
            <a:ext cx="2042513" cy="365125"/>
          </a:xfrm>
        </p:spPr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255576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D8AFC9E-C3D0-EC4C-819F-B9897FB24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0ED1E33-82AB-1C47-AD66-3C17A9705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26AE962-3CC7-514B-A7E0-A4896053F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4436" y="6356350"/>
            <a:ext cx="6576835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CD7985-233F-664F-81E9-92691A128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794691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F36D5C0A-DDA3-0247-ABBD-EA281F51E7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1DB55914-D685-B249-895F-F2B1F40D31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313708" y="365125"/>
            <a:ext cx="6258791" cy="5811838"/>
          </a:xfrm>
        </p:spPr>
        <p:txBody>
          <a:bodyPr vert="eaVert"/>
          <a:lstStyle/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97C6043-8888-FE45-8438-E4381ECD7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13708" y="6356350"/>
            <a:ext cx="6258792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2101684-9446-AD4E-9B19-B1B163A7E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38723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 descr="Immagine che contiene testo&#10;&#10;Descrizione generata automaticamente">
            <a:extLst>
              <a:ext uri="{FF2B5EF4-FFF2-40B4-BE49-F238E27FC236}">
                <a16:creationId xmlns:a16="http://schemas.microsoft.com/office/drawing/2014/main" id="{7650BB7A-A5FD-4D0C-A3BA-84D415793FB5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-1628" y="0"/>
            <a:ext cx="1950720" cy="6858000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FD701C37-F76E-416D-A1CC-CB0381EA3AD7}"/>
              </a:ext>
            </a:extLst>
          </p:cNvPr>
          <p:cNvSpPr/>
          <p:nvPr userDrawn="1"/>
        </p:nvSpPr>
        <p:spPr>
          <a:xfrm>
            <a:off x="1971" y="3429000"/>
            <a:ext cx="1952277" cy="329247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81113162-F337-9448-AD18-D8D9B0EAF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4436" y="365125"/>
            <a:ext cx="9109364" cy="8032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D108949-3D32-A044-B8E1-2D8D0CADFD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44436" y="1346200"/>
            <a:ext cx="9109364" cy="4830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DC603CA-4C5E-914A-B191-8600360AC3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44435" y="6356350"/>
            <a:ext cx="59089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Raleway" panose="020B0503030101060003" pitchFamily="34" charset="77"/>
              </a:defRPr>
            </a:lvl1pPr>
          </a:lstStyle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40421B7-0C2A-2C49-B5E3-DE988B208C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6289" y="6356350"/>
            <a:ext cx="2207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25227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4" r:id="rId4"/>
    <p:sldLayoutId id="2147483662" r:id="rId5"/>
    <p:sldLayoutId id="2147483663" r:id="rId6"/>
    <p:sldLayoutId id="2147483650" r:id="rId7"/>
    <p:sldLayoutId id="2147483651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666" r:id="rId14"/>
    <p:sldLayoutId id="2147483657" r:id="rId15"/>
    <p:sldLayoutId id="2147483665" r:id="rId16"/>
    <p:sldLayoutId id="2147483658" r:id="rId17"/>
    <p:sldLayoutId id="2147483659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rgbClr val="C00000"/>
          </a:solidFill>
          <a:latin typeface="Bebas Neue" panose="020B0606020202050201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C00000"/>
        </a:buClr>
        <a:buFont typeface="Arial" panose="020B0604020202020204" pitchFamily="34" charset="0"/>
        <a:buChar char="•"/>
        <a:defRPr sz="2000" kern="1200">
          <a:solidFill>
            <a:srgbClr val="C00000"/>
          </a:solidFill>
          <a:latin typeface="Raleway" panose="020B0503030101060003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idden Accessibility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Session Banner - AI Secret Santa: l’Elfo Digitale che organizza lo scambio di regali</a:t>
            </a:r>
          </a:p>
        </p:txBody>
      </p:sp>
      <p:grpSp>
        <p:nvGrpSpPr>
          <p:cNvPr id="6" name="Gruppo 5">
            <a:extLst>
              <a:ext uri="{FF2B5EF4-FFF2-40B4-BE49-F238E27FC236}">
                <a16:creationId xmlns:a16="http://schemas.microsoft.com/office/drawing/2014/main" id="{0BC68AB3-3D5D-0C3F-6D52-10B19DCA32A2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Banner for AI Secret Santa: l’Elfo Digitale che organizza lo scambio di regali by Maurizio Moriconi" descr="1025659.jpe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5" name="Rettangolo 4">
              <a:extLst>
                <a:ext uri="{FF2B5EF4-FFF2-40B4-BE49-F238E27FC236}">
                  <a16:creationId xmlns:a16="http://schemas.microsoft.com/office/drawing/2014/main" id="{0122EDC4-C885-A184-10EB-4F673BC51E58}"/>
                </a:ext>
              </a:extLst>
            </p:cNvPr>
            <p:cNvSpPr/>
            <p:nvPr/>
          </p:nvSpPr>
          <p:spPr>
            <a:xfrm>
              <a:off x="11004884" y="6112042"/>
              <a:ext cx="882316" cy="74595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 Session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AI Secret Santa: l’Elfo Digitale che organizza lo scambio di regali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onsor Section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Event Sponsors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otNetCode">
            <a:extLst>
              <a:ext uri="{FF2B5EF4-FFF2-40B4-BE49-F238E27FC236}">
                <a16:creationId xmlns:a16="http://schemas.microsoft.com/office/drawing/2014/main" id="{74FB081C-38E0-EA88-31BE-62E10732F1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2455" y="1423133"/>
            <a:ext cx="1718896" cy="1718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0743032C-85CE-03F6-1862-C7E1F3C860BB}"/>
              </a:ext>
            </a:extLst>
          </p:cNvPr>
          <p:cNvSpPr txBox="1"/>
          <p:nvPr/>
        </p:nvSpPr>
        <p:spPr>
          <a:xfrm>
            <a:off x="3980501" y="331149"/>
            <a:ext cx="60999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800" b="1" i="0" dirty="0">
                <a:solidFill>
                  <a:srgbClr val="E02B20"/>
                </a:solidFill>
                <a:effectLst/>
                <a:latin typeface="Open Sans" panose="020B0606030504020204" pitchFamily="34" charset="0"/>
              </a:rPr>
              <a:t>Community</a:t>
            </a:r>
            <a:endParaRPr lang="it-IT" sz="1800" dirty="0"/>
          </a:p>
        </p:txBody>
      </p:sp>
      <p:pic>
        <p:nvPicPr>
          <p:cNvPr id="1028" name="Picture 4" descr="DotNet Abruzzo">
            <a:extLst>
              <a:ext uri="{FF2B5EF4-FFF2-40B4-BE49-F238E27FC236}">
                <a16:creationId xmlns:a16="http://schemas.microsoft.com/office/drawing/2014/main" id="{B555602F-166D-B308-F5D7-A4E1F548CD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8521" y="3911648"/>
            <a:ext cx="1926764" cy="1926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DotNet Toscana">
            <a:extLst>
              <a:ext uri="{FF2B5EF4-FFF2-40B4-BE49-F238E27FC236}">
                <a16:creationId xmlns:a16="http://schemas.microsoft.com/office/drawing/2014/main" id="{9B1AA3F3-C271-EE6D-A72E-2B434689AF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8133" y="1249755"/>
            <a:ext cx="1892274" cy="1892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92C24794-BD4E-4B7F-5783-9989C48E40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4634" y="4315193"/>
            <a:ext cx="3139272" cy="1119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5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mo Section Title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Demo: AI Secret Santa: l’Elfo Digitale che organizza lo scambio di regali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s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oting Call to Action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Please Vote for This Session</a:t>
            </a:r>
          </a:p>
        </p:txBody>
      </p:sp>
      <p:pic>
        <p:nvPicPr>
          <p:cNvPr id="3" name="QR Code for voting on AI Secret Santa: l’Elfo Digitale che organizza lo scambio di regali" descr="temp_voteQr.png"/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l="8840" r="8840"/>
          <a:stretch>
            <a:fillRect/>
          </a:stretch>
        </p:blipFill>
        <p:spPr/>
      </p:pic>
      <p:sp>
        <p:nvSpPr>
          <p:cNvPr id="4" name="Alternative Voting URL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t>Vote online at:</a:t>
            </a:r>
          </a:p>
          <a:p>
            <a:r>
              <a:t>https://vote.dotnetdev.it/vote/xqt335vh/1025659</a:t>
            </a:r>
          </a:p>
        </p:txBody>
      </p:sp>
      <p:sp>
        <p:nvSpPr>
          <p:cNvPr id="5" name="Hidden Accessibility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Vote for Session - AI Secret Santa: l’Elfo Digitale che organizza lo scambio di regali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294</Words>
  <Application>Microsoft Office PowerPoint</Application>
  <PresentationFormat>Widescreen</PresentationFormat>
  <Paragraphs>16</Paragraphs>
  <Slides>7</Slides>
  <Notes>6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3" baseType="lpstr">
      <vt:lpstr>Arial</vt:lpstr>
      <vt:lpstr>Bebas Neue</vt:lpstr>
      <vt:lpstr>Calibri</vt:lpstr>
      <vt:lpstr>Open Sans</vt:lpstr>
      <vt:lpstr>Raleway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Demo: AI Secret Santa: l’Elfo Digitale che organizza lo scambio di regali</vt:lpstr>
      <vt:lpstr>Questions &amp; Discussion</vt:lpstr>
      <vt:lpstr>Please Vote for This Session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for AI Secret Santa: l’Elfo Digitale che organizza lo scambio di regali</dc:title>
  <dc:subject>Conference session: AI Secret Santa: l’Elfo Digitale che organizza lo scambio di regali</dc:subject>
  <dc:creator>Carmine Alfano</dc:creator>
  <cp:lastModifiedBy>Ivan Persiani</cp:lastModifiedBy>
  <cp:revision>57</cp:revision>
  <dcterms:created xsi:type="dcterms:W3CDTF">2018-11-12T16:34:34Z</dcterms:created>
  <dcterms:modified xsi:type="dcterms:W3CDTF">2025-12-01T21:07:29Z</dcterms:modified>
</cp:coreProperties>
</file>